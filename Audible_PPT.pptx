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438912"/>
            <a:ext cx="2834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62" y="438912"/>
            <a:ext cx="1584754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572768"/>
            <a:ext cx="2880360" cy="1325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  <a:latin typeface="Aptos Display"/>
              </a:defRPr>
            </a:pPr>
            <a:r>
              <a:t>AUDIBLE</a:t>
            </a:r>
            <a:br/>
            <a:r>
              <a:t>DATA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27248"/>
            <a:ext cx="274320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1">
                <a:solidFill>
                  <a:srgbClr val="141414"/>
                </a:solidFill>
                <a:latin typeface="Aptos"/>
              </a:defRPr>
            </a:pPr>
            <a:r>
              <a:t>Power Query • Excel •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2743200" cy="9601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141414"/>
                </a:solidFill>
                <a:latin typeface="Aptos"/>
              </a:defRPr>
            </a:pPr>
            <a:r>
              <a:t>A practical transformation project turning raw audiobook fields into consistent, analysis-ready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822960"/>
            <a:ext cx="3017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  <a:latin typeface="Aptos"/>
              </a:defRPr>
            </a:pPr>
            <a:r>
              <a:t>FROM 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261872"/>
            <a:ext cx="6309360" cy="1325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to a clean,</a:t>
            </a:r>
            <a:br/>
            <a:r>
              <a:t>analysis-ready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880360"/>
            <a:ext cx="6263640" cy="9601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0">
                <a:solidFill>
                  <a:srgbClr val="D7D7D7"/>
                </a:solidFill>
                <a:latin typeface="Aptos"/>
              </a:defRPr>
            </a:pPr>
            <a:r>
              <a:t>A 9-point Power Query case study covering text standardization, author and narrator splitting, dates, durations, prices, ratings and column merging.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343400"/>
            <a:ext cx="2057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4343400"/>
            <a:ext cx="64008" cy="10789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8" y="4471416"/>
            <a:ext cx="16916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09 CLEANING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4818888"/>
            <a:ext cx="1691640" cy="51206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All case-study requirements completed.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343400"/>
            <a:ext cx="2057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0" y="4343400"/>
            <a:ext cx="64008" cy="10789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9168" y="4471416"/>
            <a:ext cx="16916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4818888"/>
            <a:ext cx="1691640" cy="51206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Repeatable transformation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343400"/>
            <a:ext cx="2057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4343400"/>
            <a:ext cx="64008" cy="10789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5168" y="4471416"/>
            <a:ext cx="16916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4818888"/>
            <a:ext cx="1691640" cy="51206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Structured fields for analysis.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989320"/>
            <a:ext cx="27432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Audible • Power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51560"/>
            <a:ext cx="274320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900" b="1">
                <a:solidFill>
                  <a:srgbClr val="141414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5486400" cy="9144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600" b="0">
                <a:solidFill>
                  <a:srgbClr val="2A2A2A"/>
                </a:solidFill>
                <a:latin typeface="Aptos"/>
              </a:defRPr>
            </a:pPr>
            <a:r>
              <a:t>Clean and standardize the Audible audiobook dataset so inconsistent text, dates, durations, prices and ratings become reliable fields for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43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743200"/>
            <a:ext cx="64008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871216"/>
            <a:ext cx="2971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18688"/>
            <a:ext cx="2971800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Raw audiobook data containing mixed formats and embedded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43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743200"/>
            <a:ext cx="64008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2871216"/>
            <a:ext cx="2971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218688"/>
            <a:ext cx="2971800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Power Query operations: Format, Split, Extract, Replace, Custom Column, Merge and Data 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743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2743200"/>
            <a:ext cx="64008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2871216"/>
            <a:ext cx="2971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218688"/>
            <a:ext cx="2971800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Consistent, analysis-ready columns with appropriate data types.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384048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800" b="1">
                <a:solidFill>
                  <a:srgbClr val="141414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736592"/>
            <a:ext cx="10424160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A2A2A"/>
                </a:solidFill>
                <a:latin typeface="Aptos"/>
              </a:defRPr>
            </a:pPr>
            <a:r>
              <a:t>• Standardizing text without manual row-by-row editing</a:t>
            </a:r>
          </a:p>
          <a:p>
            <a:pPr>
              <a:spcAft>
                <a:spcPts val="800"/>
              </a:spcAft>
              <a:defRPr sz="1350">
                <a:solidFill>
                  <a:srgbClr val="2A2A2A"/>
                </a:solidFill>
                <a:latin typeface="Aptos"/>
              </a:defRPr>
            </a:pPr>
            <a:r>
              <a:t>• Separating combined values using delimiters</a:t>
            </a:r>
          </a:p>
          <a:p>
            <a:pPr>
              <a:spcAft>
                <a:spcPts val="800"/>
              </a:spcAft>
              <a:defRPr sz="1350">
                <a:solidFill>
                  <a:srgbClr val="2A2A2A"/>
                </a:solidFill>
                <a:latin typeface="Aptos"/>
              </a:defRPr>
            </a:pPr>
            <a:r>
              <a:t>• Using locale-aware date conversion</a:t>
            </a:r>
          </a:p>
          <a:p>
            <a:pPr>
              <a:spcAft>
                <a:spcPts val="800"/>
              </a:spcAft>
              <a:defRPr sz="1350">
                <a:solidFill>
                  <a:srgbClr val="2A2A2A"/>
                </a:solidFill>
                <a:latin typeface="Aptos"/>
              </a:defRPr>
            </a:pPr>
            <a:r>
              <a:t>• Converting descriptive durations into structured values</a:t>
            </a:r>
          </a:p>
          <a:p>
            <a:pPr>
              <a:spcAft>
                <a:spcPts val="800"/>
              </a:spcAft>
              <a:defRPr sz="1350">
                <a:solidFill>
                  <a:srgbClr val="2A2A2A"/>
                </a:solidFill>
                <a:latin typeface="Aptos"/>
              </a:defRPr>
            </a:pPr>
            <a:r>
              <a:t>• Handling errors before numeric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01  •  Standardize the Name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Text 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hot 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42" y="1024128"/>
            <a:ext cx="3717635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name field was standardized with Capitalize Each Word so book titles follow a consistent title-case convention.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Consistent casing improves readability and prevents the same title from appearing as different text values because of capitalization.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Book names now follow a consistent presentation standard, making filtering, grouping and reporting cleaner.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Format → Capitalize Each Word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02  •  Separate Multiple Authors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1 — choose the split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598" y="1024128"/>
            <a:ext cx="3362322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author column was selected and Split Column → By Delimiter was used. This is the correct approach when multiple authors are encoded inside one text field.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A delimiter-based split converts a combined field into separate columns instead of leaving several contributors embedded in one string.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first step defines how Power Query should break the author string.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Split Column → By Delimiter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02  •  Separate Multiple Authors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2 — use the colon delimiter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6963"/>
            <a:ext cx="6583680" cy="3937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delimiter was set to a colon (:), matching the structure of the author values in the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Choosing the delimiter that actually separates contributors is essential; the wrong delimiter would fragment names incorrectly.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Power Query identifies each colon as a boundary between author entries.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Delimiter = Colon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02  •  Separate Multiple Authors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3 — create separate author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9986"/>
            <a:ext cx="6583680" cy="4591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split operation produces separate author columns such as author.1, author.2, author.3 and author.4 where values exist.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Separate fields make each contributor independently filterable and easier to profile or analyze.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Combined author information is normalized into multiple analysis-friendly columns.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Split at each occurrence of the delimiter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03  •  Standardize Release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Locale-aware date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releasedate column was checked after cleaning. The values are already standardized in the required DD-MM-YYYY format, so no further date-format conversion is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0">
                <a:solidFill>
                  <a:srgbClr val="696969"/>
                </a:solidFill>
                <a:latin typeface="Aptos"/>
              </a:defRPr>
            </a:pPr>
            <a:r>
              <a:t>A consistent DD-MM-YYYY format makes the date field easy to read, sort, filter and use in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0">
                <a:solidFill>
                  <a:srgbClr val="2A2A2A"/>
                </a:solidFill>
                <a:latin typeface="Aptos"/>
              </a:defRPr>
            </a:pPr>
            <a:r>
              <a:t>Result: no additional transformation is required because the cleaned values already follow DD-MM-YYYY.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696969"/>
                </a:solidFill>
                <a:latin typeface="Aptos"/>
              </a:defRPr>
            </a:pPr>
            <a:r>
              <a:t>Format check → DD-MM-YYYY already present</a:t>
            </a:r>
          </a:p>
        </p:txBody>
      </p:sp>
      <p:pic>
        <p:nvPicPr>
          <p:cNvPr id="23" name="Picture 22" descr="Screenshot 2026-09-12 2029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389" y="1024128"/>
            <a:ext cx="250674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04  •  Convert Time Text into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4 — merge the duration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rPr lang="en-IN" dirty="0"/>
              <a:t>08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73287"/>
            <a:ext cx="6583680" cy="38052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extracted components were combined into a single merged duration representation, producing values that Power Query can recognize as time/duration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Once structured, durations can be sorted, compared and used in analysis instead of remaining plain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dataset contains a dedicated structured time-duration field.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Merge Columns + Duration data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04  •  Convert Time Text into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1 — build the hour 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9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8503"/>
            <a:ext cx="6583680" cy="48947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raw time text was transformed using a Custom Column. The hour portion was extracted and combined with the minute component being prepared.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Descriptive text such as “2 hrs and 20 mins” cannot be reliably calculated until its components are structured.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A structured intermediate value is created for the final duration transformation.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Custom Column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04  •  Convert Time Text into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2 — add the seconds 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rPr lang="en-IN" dirty="0"/>
              <a:t>1</a:t>
            </a:r>
            <a:r>
              <a:rPr dirty="0"/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0636"/>
            <a:ext cx="6583680" cy="33305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A “:00” suffix was added to complete the time-style structure, supplying the seconds component.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Adding the missing component creates a consistent machine-readable time pattern.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intermediate text now follows a consistent time representation.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Format → Add Suffix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04  •  Convert Time Text into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3 — extract the minute 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rPr dirty="0"/>
              <a:t>1</a:t>
            </a:r>
            <a:r>
              <a:rPr lang="en-IN" dirty="0"/>
              <a:t>1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238" y="1024128"/>
            <a:ext cx="2579042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minute portion was extracted from the original descriptive string using Text Before Delimiter with “out” as the delimiter in the transformation shown.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This separates the numeric component from surrounding words so it can be combined into a duration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minute value is isolated for use in the final duration field.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Extract → Text Before Delimiter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05  •  Clean the Price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Numeric conversion &amp; error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205638"/>
            <a:ext cx="6583680" cy="49404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price field was converted toward a numeric/currency-compatible type. Conversion errors were identified and handled rather than leaving mixed text and numeric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Numeric typing is required for totals, averages, sorting and other financial calculations.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price column is prepared as a numeric field and invalid entries are explicitly handled.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Change Data Type + Replace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06  •  Convert Star Ratings to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1 — extract the numeric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6714"/>
            <a:ext cx="6583680" cy="51583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original stars field contains descriptive text such as “5 out of 5 stars…”. Text extraction was used to isolate the rating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Analysis needs the numeric rating itself, not the surrounding descriptive phrase.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rating portion is separated from the descriptive 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Text Before Delimiter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06  •  Convert Star Ratings to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Step 2 — confirm the numeric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6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895" y="1024128"/>
            <a:ext cx="2015729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resulting rating field contains numeric values such as 4 and 5, with the column shown as a numeric type.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Numeric ratings can now be averaged, grouped and compared statistically.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stars field is analysis-ready as a numeric rating.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Data Type → Whole Number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07  •  Split the Narrator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Normalize multiple narrators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1054"/>
            <a:ext cx="6583680" cy="46896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narratedby field was split using its delimiter so multiple narrators are stored in separate columns.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One narrator per field makes the dataset easier to filter, count and analyze without parsing a long combined string.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Narrator 1, Narrator 2, Narrator 3 and Narrator 4 fields can be handled independently.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Split Column → By Delimiter (Colon)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08  •  Create the Release Info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Merge date +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070" y="1024128"/>
            <a:ext cx="3829378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The releasedate and language columns were merged into one new field named releaseinfo.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A combined descriptive field provides a compact way to display release date and language together while the original fields can remain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target structure is DD-MM-YYYY, Language — for example, “04-08-2008, English”.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Merge Columns → Custom separator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95527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09  •  Apply the Final Price Data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2918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50" b="0">
                <a:solidFill>
                  <a:srgbClr val="CDCDCD"/>
                </a:solidFill>
                <a:latin typeface="Aptos"/>
              </a:defRPr>
            </a:pPr>
            <a:r>
              <a:t>Numeric / currency 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173736"/>
            <a:ext cx="3200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583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s 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334" y="1024128"/>
            <a:ext cx="1612851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143000"/>
            <a:ext cx="41605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Aptos"/>
              </a:defRPr>
            </a:pPr>
            <a:r>
              <a:t>What was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6192"/>
            <a:ext cx="416052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Aptos"/>
              </a:defRPr>
            </a:pPr>
            <a:r>
              <a:t>After error handling, the price field was assigned an appropriate numeric data type. Currency is suitable when the values represent monetary amounts.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889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64008" cy="1170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29169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2644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Correct typing ensures the column participates correctly in calculations, sorting and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160520"/>
            <a:ext cx="4069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160520"/>
            <a:ext cx="64008" cy="1170432"/>
          </a:xfrm>
          <a:prstGeom prst="rect">
            <a:avLst/>
          </a:prstGeom>
          <a:solidFill>
            <a:srgbClr val="2A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288536"/>
            <a:ext cx="3703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POWER QUERY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4636008"/>
            <a:ext cx="3703320" cy="6035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The final price field is typed consistently and ready for downstream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88152"/>
            <a:ext cx="40690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141414"/>
                </a:solidFill>
                <a:latin typeface="Aptos"/>
              </a:defRPr>
            </a:pPr>
            <a:r>
              <a:t>Data Type → Currency / Decimal Number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502920"/>
            <a:ext cx="2331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55" y="502920"/>
            <a:ext cx="133452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1600200"/>
            <a:ext cx="3657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Aptos"/>
              </a:defRPr>
            </a:pPr>
            <a:r>
              <a:t>PROJECT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6675120" cy="12344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A cleaner dataset.</a:t>
            </a:r>
            <a:br/>
            <a:r>
              <a:t>A stronger foundation for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6492240" cy="9144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0">
                <a:solidFill>
                  <a:srgbClr val="D7D7D7"/>
                </a:solidFill>
                <a:latin typeface="Aptos"/>
              </a:defRPr>
            </a:pPr>
            <a:r>
              <a:t>The nine cleaning requirements were addressed through a reproducible Power Query workflow rather than manual edits.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41732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417320"/>
            <a:ext cx="6400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1545336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892808"/>
            <a:ext cx="3063240" cy="3017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Standardized and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51460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2514600"/>
            <a:ext cx="6400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9288" y="2642616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DATE /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2990088"/>
            <a:ext cx="3063240" cy="3017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Typed and 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6118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18120" y="3611880"/>
            <a:ext cx="6400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9288" y="3739896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NUMERIC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4087368"/>
            <a:ext cx="3063240" cy="3017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Errors handled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70916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18120" y="4709160"/>
            <a:ext cx="6400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19288" y="4837176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5184648"/>
            <a:ext cx="3063240" cy="3017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50" b="0">
                <a:solidFill>
                  <a:srgbClr val="696969"/>
                </a:solidFill>
                <a:latin typeface="Aptos"/>
              </a:defRPr>
            </a:pPr>
            <a:r>
              <a:t>Merged / normalized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44768"/>
            <a:ext cx="6583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0">
                <a:solidFill>
                  <a:srgbClr val="919191"/>
                </a:solidFill>
                <a:latin typeface="Aptos"/>
              </a:defRPr>
            </a:pPr>
            <a:r>
              <a:t>Audible Data Cleaning Project • Power Query • 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1470</Words>
  <Application>Microsoft Office PowerPoint</Application>
  <PresentationFormat>Widescreen</PresentationFormat>
  <Paragraphs>207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sahil mirdha</dc:creator>
  <cp:keywords/>
  <dc:description>generated using python-pptx</dc:description>
  <cp:lastModifiedBy>sahil mirdha</cp:lastModifiedBy>
  <cp:revision>2</cp:revision>
  <dcterms:created xsi:type="dcterms:W3CDTF">2013-01-27T09:14:16Z</dcterms:created>
  <dcterms:modified xsi:type="dcterms:W3CDTF">2026-09-12T15:13:33Z</dcterms:modified>
  <cp:category/>
</cp:coreProperties>
</file>